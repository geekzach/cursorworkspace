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过审∶计划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77</c:v>
                </c:pt>
                <c:pt idx="2">
                  <c:v>86</c:v>
                </c:pt>
                <c:pt idx="3">
                  <c:v>98</c:v>
                </c:pt>
              </c:numCache>
            </c:numRef>
          </c:val>
          <c:smooth val="0"/>
          <c:spPr>
            <a:ln w="19050">
              <a:solidFill>
                <a:srgbClr val="8B1E24"/>
              </a:solidFill>
            </a:ln>
          </c:spPr>
          <c:marker>
            <c:symbol val="circle"/>
            <c:size val="7"/>
            <c:spPr>
              <a:solidFill>
                <a:srgbClr val="8B1E24"/>
              </a:solidFill>
              <a:ln w="12700">
                <a:solidFill>
                  <a:srgbClr val="8B1E24"/>
                </a:solidFill>
              </a:ln>
            </c:spPr>
          </c:marker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  <c:spPr>
          <a:ln w="6350">
            <a:solidFill>
              <a:srgbClr val="C4B8A4"/>
            </a:solidFill>
          </a:ln>
        </c:spPr>
      </c:catAx>
      <c:valAx>
        <c:axId val="2140495176"/>
        <c:scaling>
          <c:min val="0"/>
          <c:max val="120"/>
        </c:scaling>
        <c:delete val="0"/>
        <c:axPos val="l"/>
        <c:majorGridlines>
          <c:spPr>
            <a:ln w="6350">
              <a:solidFill>
                <a:srgbClr val="D9CDBA"/>
              </a:solidFill>
            </a:ln>
          </c:spPr>
        </c:majorGridlines>
        <c:majorTickMark val="out"/>
        <c:minorTickMark val="none"/>
        <c:tickLblPos val="nextTo"/>
        <c:crossAx val="2118791784"/>
        <c:crosses val="autoZero"/>
        <c:spPr>
          <a:ln w="6350">
            <a:solidFill>
              <a:srgbClr val="C4B8A4"/>
            </a:solidFill>
          </a:ln>
        </c:spPr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  <c:autoTitleDeleted val="1"/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0"/>
            <a:ext cx="592805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3232" y="1051560"/>
            <a:ext cx="5120640" cy="502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  <a:spcAft>
                <a:spcPts val="200"/>
              </a:spcAft>
            </a:pPr>
            <a:r>
              <a:rPr sz="13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习近平新时代中国特色社会主义思想概论</a:t>
            </a:r>
          </a:p>
          <a:p>
            <a:pPr algn="l" eaLnBrk="1" hangingPunct="1">
              <a:lnSpc>
                <a:spcPct val="114999"/>
              </a:lnSpc>
            </a:pPr>
            <a:r>
              <a:rPr sz="14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第十一章第二节  ·  实施就业优先战略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965960"/>
            <a:ext cx="5212080" cy="1554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05000"/>
              </a:lnSpc>
              <a:spcAft>
                <a:spcPts val="600"/>
              </a:spcAft>
            </a:pPr>
            <a:r>
              <a:rPr sz="36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从「上岸」热</a:t>
            </a:r>
          </a:p>
          <a:p>
            <a:pPr algn="l" eaLnBrk="1" hangingPunct="1">
              <a:lnSpc>
                <a:spcPct val="105000"/>
              </a:lnSpc>
            </a:pPr>
            <a:r>
              <a:rPr sz="36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看就业优先战略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3232" y="3794760"/>
            <a:ext cx="1051560" cy="0"/>
          </a:xfrm>
          <a:prstGeom prst="line">
            <a:avLst/>
          </a:prstGeom>
          <a:ln w="15875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402336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  <a:spcAft>
                <a:spcPts val="400"/>
              </a:spcAft>
            </a:pPr>
            <a:r>
              <a:rPr sz="1600" b="0">
                <a:solidFill>
                  <a:srgbClr val="1E1E1E"/>
                </a:solidFill>
                <a:latin typeface="宋体"/>
                <a:ea typeface="宋体"/>
                <a:cs typeface="宋体"/>
              </a:rPr>
              <a:t>以青年就业选择为切口</a:t>
            </a:r>
          </a:p>
          <a:p>
            <a:pPr algn="l" eaLnBrk="1" hangingPunct="1">
              <a:lnSpc>
                <a:spcPct val="114999"/>
              </a:lnSpc>
              <a:spcAft>
                <a:spcPts val="400"/>
              </a:spcAft>
            </a:pPr>
            <a:r>
              <a:rPr sz="1600" b="0">
                <a:solidFill>
                  <a:srgbClr val="5C564E"/>
                </a:solidFill>
                <a:latin typeface="宋体"/>
                <a:ea typeface="宋体"/>
                <a:cs typeface="宋体"/>
              </a:rPr>
              <a:t>理解高质量充分就业的民生意义</a:t>
            </a:r>
          </a:p>
          <a:p>
            <a:pPr algn="l" eaLnBrk="1" hangingPunct="1">
              <a:lnSpc>
                <a:spcPct val="114999"/>
              </a:lnSpc>
            </a:pPr>
            <a:r>
              <a:rPr sz="1600" b="0">
                <a:solidFill>
                  <a:srgbClr val="5C564E"/>
                </a:solidFill>
                <a:latin typeface="宋体"/>
                <a:ea typeface="宋体"/>
                <a:cs typeface="宋体"/>
              </a:rPr>
              <a:t>考公热只是窗口，不是主题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580644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3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课堂汇报  ·  2026年10月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47395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北京科技大学校园银杏  ·  纳瓦拉的狼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310896"/>
            <a:ext cx="2622499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40888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5939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0991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420624"/>
            <a:ext cx="10875264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200" b="1">
                <a:solidFill>
                  <a:srgbClr val="8B1E24"/>
                </a:solidFill>
                <a:latin typeface="微软雅黑"/>
                <a:ea typeface="微软雅黑"/>
                <a:cs typeface="微软雅黑"/>
              </a:rPr>
              <a:t>壹    从现实进入教材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75264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8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就业为什么被青年和家庭同时看见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108752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先把现实问题接到教材切口上，而不是直接讨论该不该考公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536192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5989320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95660" y="6446520"/>
            <a:ext cx="900000" cy="2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pic>
        <p:nvPicPr>
          <p:cNvPr id="12" name="Picture 11" descr="que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755648"/>
            <a:ext cx="3794760" cy="38587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1755648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家里最先问起的，往往不是兴趣，而是有没有一份说得过去的工作。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26771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上位主题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2267712"/>
            <a:ext cx="5050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以保障和改善民生为重点加强社会建设。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281635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教材切口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7712" y="2816352"/>
            <a:ext cx="5050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第二节中的「实施就业优先战略」，不是整场社会评论。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36499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现实窗口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3364992"/>
            <a:ext cx="5050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青年就业压力、岗位匹配、职业选择；考公热只是其中一例。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913632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真正要答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7712" y="3913632"/>
            <a:ext cx="5050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为什么要实施就业优先战略，以及它如何保障和改善民生。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5687568"/>
            <a:ext cx="37947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海淀西北旺面试排队  ·  N509FZ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144768"/>
            <a:ext cx="1086307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宋体"/>
                <a:ea typeface="宋体"/>
                <a:cs typeface="宋体"/>
              </a:rPr>
              <a:t>选题可以小。小切口仍要回到教材提出的那个问题。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310896"/>
            <a:ext cx="2622499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40888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5939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0991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420624"/>
            <a:ext cx="10875264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200" b="1">
                <a:solidFill>
                  <a:srgbClr val="8B1E24"/>
                </a:solidFill>
                <a:latin typeface="微软雅黑"/>
                <a:ea typeface="微软雅黑"/>
                <a:cs typeface="微软雅黑"/>
              </a:rPr>
              <a:t>壹    从现实进入教材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75264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8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就业是最基本的民生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108752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教材：就业是劳动者赖以生存和发展的基础，关系劳动者及其家庭的切身利益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536192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5989320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95660" y="6446520"/>
            <a:ext cx="900000" cy="2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1792224"/>
            <a:ext cx="2581656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1920240"/>
            <a:ext cx="2581656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生存发展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377440"/>
            <a:ext cx="2581656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5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没有就业，劳动者就缺少安身立命的基本条件。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422904" y="1792224"/>
            <a:ext cx="2581656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422904" y="1920240"/>
            <a:ext cx="2581656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家庭利益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2904" y="2377440"/>
            <a:ext cx="2581656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5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一份工作连着收入、保障，也连着一家人的生活预期。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87440" y="1792224"/>
            <a:ext cx="2581656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87440" y="1920240"/>
            <a:ext cx="2581656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优先位置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7440" y="2377440"/>
            <a:ext cx="2581656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5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把就业摆在经济社会发展优先位置，才能扩大容量、增加收入。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51976" y="1792224"/>
            <a:ext cx="2581656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951976" y="1920240"/>
            <a:ext cx="2581656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生活品质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1976" y="2377440"/>
            <a:ext cx="2581656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5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就业工作的落点，是改善人民生活品质，而不是完成一项指标。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3840480"/>
            <a:ext cx="10875264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  <a:spcAft>
                <a:spcPts val="800"/>
              </a:spcAft>
            </a:pPr>
            <a:r>
              <a:rPr sz="1600" b="0">
                <a:solidFill>
                  <a:srgbClr val="1E1E1E"/>
                </a:solidFill>
                <a:latin typeface="宋体"/>
                <a:ea typeface="宋体"/>
                <a:cs typeface="宋体"/>
              </a:rPr>
              <a:t>「就业是最基本的民生，是劳动者赖以生存和发展的基础，关系劳动者及其家庭的切身利益。」</a:t>
            </a:r>
          </a:p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第十一章的结构很清楚：社会建设 → 不断提高人民生活品质 → 实施就业优先战略。后面的数据和案例，都要回答战略如何保障和改善民生。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144768"/>
            <a:ext cx="1086307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宋体"/>
                <a:ea typeface="宋体"/>
                <a:cs typeface="宋体"/>
              </a:rPr>
              <a:t>理论起点立住了，考公热才不会把整场汇报带走。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408883" y="310896"/>
            <a:ext cx="2622499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5939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0991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420624"/>
            <a:ext cx="10875264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200" b="1">
                <a:solidFill>
                  <a:srgbClr val="8B1E24"/>
                </a:solidFill>
                <a:latin typeface="微软雅黑"/>
                <a:ea typeface="微软雅黑"/>
                <a:cs typeface="微软雅黑"/>
              </a:rPr>
              <a:t>贰    认识现实背景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75264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8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总量压力与结构性矛盾同时存在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108752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教材写过成绩，同一页后半句没有删：总量压力仍在，结构性就业矛盾凸显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536192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5989320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95660" y="6446520"/>
            <a:ext cx="900000" cy="2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1755648"/>
            <a:ext cx="3503168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1874519"/>
            <a:ext cx="350316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8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1270万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60320"/>
            <a:ext cx="3503168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0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2026届普通高校毕业生预计规模。较2025届1222万，增加48万。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44416" y="1755648"/>
            <a:ext cx="3503168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344416" y="1874519"/>
            <a:ext cx="350316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8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1300万+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4416" y="2560320"/>
            <a:ext cx="3503168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0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2012—2021年城镇新增就业年均超过这个数。城镇就业人员增至4.7亿。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30464" y="1755648"/>
            <a:ext cx="3503168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30464" y="1874519"/>
            <a:ext cx="3503168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8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18.9%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0464" y="2560320"/>
            <a:ext cx="3503168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0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2026年8月，16—24岁不含在校生失业率。30—59岁为3.9%。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840480"/>
            <a:ext cx="10875264" cy="182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全国城镇调查失业率8月为5.3%。青年组和主体劳动年龄组不在一个量级。</a:t>
            </a:r>
          </a:p>
          <a:p>
            <a:pPr algn="l" eaLnBrk="1" hangingPunct="1">
              <a:lnSpc>
                <a:spcPct val="114999"/>
              </a:lnSpc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统计局将8月回升主要归因于毕业生集中进入劳动力市场，属于季节性影响，不是一个月崩塌。</a:t>
            </a:r>
          </a:p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成绩要承认：就业优先已经托住了超大规模就业。压力那句也要连读：稳就业仍须提到战略高度通盘考虑。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144768"/>
            <a:ext cx="1086307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宋体"/>
                <a:ea typeface="宋体"/>
                <a:cs typeface="宋体"/>
              </a:rPr>
              <a:t>提出问题，先不急着下结论。教材第232页。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408883" y="310896"/>
            <a:ext cx="2622499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5939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0991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420624"/>
            <a:ext cx="10875264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200" b="1">
                <a:solidFill>
                  <a:srgbClr val="8B1E24"/>
                </a:solidFill>
                <a:latin typeface="微软雅黑"/>
                <a:ea typeface="微软雅黑"/>
                <a:cs typeface="微软雅黑"/>
              </a:rPr>
              <a:t>贰    认识现实背景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75264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8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考公热是窗口，不是整场汇报的主题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108752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口径必须分开：高校毕业生规模、国考招录计划、过审人数、实际录用人数，不是同一件事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536192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5989320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95660" y="6446520"/>
            <a:ext cx="900000" cy="2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658368" y="1645920"/>
          <a:ext cx="5200000" cy="2286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583680" y="1755648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  <a:spcAft>
                <a:spcPts val="800"/>
              </a:spcAft>
            </a:pPr>
            <a:r>
              <a:rPr sz="32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98∶1</a:t>
            </a:r>
          </a:p>
          <a:p>
            <a:pPr algn="l" eaLnBrk="1" hangingPunct="1">
              <a:lnSpc>
                <a:spcPct val="114999"/>
              </a:lnSpc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2026年国考：过审371.8万，计划招录3.81万。这是过审比计划，不是到场参考比最终录取。</a:t>
            </a:r>
          </a:p>
          <a:p>
            <a:pPr algn="l" eaLnBrk="1" hangingPunct="1">
              <a:lnSpc>
                <a:spcPct val="114999"/>
              </a:lnSpc>
              <a:spcAft>
                <a:spcPts val="1000"/>
              </a:spcAft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招录计划近年约在3.71万至3.97万之间，2026年为3.81万，入口几乎横着走。</a:t>
            </a:r>
          </a:p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1270万毕业生和3.81万国考计划不在一个数量级。编制是被承认的入口之一，不是就业市场的全部。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300000"/>
            <a:ext cx="5200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2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过审人数与录用计划之比  ·  约70∶1 → 98∶1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750000"/>
            <a:ext cx="10875264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  <a:spcAft>
                <a:spcPts val="600"/>
              </a:spcAft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窗口能说明的是：稳定预期、岗位匹配和「好工作」的社会定义，正在把人导向同一条路。</a:t>
            </a:r>
          </a:p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窗口不能代替的是：就业优先战略本身。战略要扩大的是就业机会与匹配，不是再开一个考场入口。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144768"/>
            <a:ext cx="1086307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宋体"/>
                <a:ea typeface="宋体"/>
                <a:cs typeface="宋体"/>
              </a:rPr>
              <a:t>人挤向编制，是风险被定价之后的结果。它提出问题，并不等于答案。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408883" y="310896"/>
            <a:ext cx="2622499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5939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0991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420624"/>
            <a:ext cx="10875264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200" b="1">
                <a:solidFill>
                  <a:srgbClr val="8B1E24"/>
                </a:solidFill>
                <a:latin typeface="微软雅黑"/>
                <a:ea typeface="微软雅黑"/>
                <a:cs typeface="微软雅黑"/>
              </a:rPr>
              <a:t>贰    认识现实背景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75264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8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挤向稳定，是几组关系没有对齐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108752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结构性就业矛盾，不只是「青年更想考了」这一层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536192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5989320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95660" y="6446520"/>
            <a:ext cx="900000" cy="2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1719072"/>
            <a:ext cx="4937760" cy="0"/>
          </a:xfrm>
          <a:prstGeom prst="line">
            <a:avLst/>
          </a:prstGeom>
          <a:ln w="12700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18105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岗位需求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39696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0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产业需要的技能、地点和用工方式，与毕业生供给之间存在错位。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46520" y="1719072"/>
            <a:ext cx="4937760" cy="0"/>
          </a:xfrm>
          <a:prstGeom prst="line">
            <a:avLst/>
          </a:prstGeom>
          <a:ln w="12700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46520" y="18105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劳动者技能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39696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0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专业结构、职业培训和岗位要求没有同步改写，匹配成本就会转嫁到求职者身上。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58368" y="3039072"/>
            <a:ext cx="4937760" cy="0"/>
          </a:xfrm>
          <a:prstGeom prst="line">
            <a:avLst/>
          </a:prstGeom>
          <a:ln w="12700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31305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薪酬与预期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459696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0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收入、保障、身份和「可以向家里解释」，被绑成一个包。编制把这个包一次买齐。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46520" y="3039072"/>
            <a:ext cx="4937760" cy="0"/>
          </a:xfrm>
          <a:prstGeom prst="line">
            <a:avLst/>
          </a:prstGeom>
          <a:ln w="12700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46520" y="313051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就业服务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459696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0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岗位信息、职业指导和见习如果接不上，人更容易退回到最熟悉的那条考试路径。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520000"/>
            <a:ext cx="10875264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  <a:spcAft>
                <a:spcPts val="800"/>
              </a:spcAft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课堂观察（叙述案例，不是调查结论）：考试被写成唯一被承认的入口；县里工厂的录用通知，也可以因为进不了家里那张「好工作」表而被删掉。</a:t>
            </a:r>
          </a:p>
          <a:p>
            <a:pPr algn="l" eaLnBrk="1" hangingPunct="1">
              <a:lnSpc>
                <a:spcPct val="114999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这两类情况不能写成「躺平」。它们说明：岗位到了人，定义和匹配不一定到。这正是结构性矛盾在择业上的表现。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144768"/>
            <a:ext cx="1086307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宋体"/>
                <a:ea typeface="宋体"/>
                <a:cs typeface="宋体"/>
              </a:rPr>
              <a:t>原因立在结构上，后面的政策才知道自己在回应什么。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40888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59398" y="310896"/>
            <a:ext cx="2622499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0991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420624"/>
            <a:ext cx="10875264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200" b="1">
                <a:solidFill>
                  <a:srgbClr val="8B1E24"/>
                </a:solidFill>
                <a:latin typeface="微软雅黑"/>
                <a:ea typeface="微软雅黑"/>
                <a:cs typeface="微软雅黑"/>
              </a:rPr>
              <a:t>叁    战略如何解决问题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75264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8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为什么要把就业摆在经济社会发展优先位置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108752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优先，是把就业写进发展方式，而不是事后补救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536192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5989320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95660" y="6446520"/>
            <a:ext cx="900000" cy="2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19072"/>
            <a:ext cx="1087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教材的逻辑是：就业是最基本的民生，所以必须摆在经济社会发展优先位置，借此扩大就业容量、创造和增加收入、改善人民生活品质。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377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从教材看必要性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7744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从《意见》看如何落地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9904" y="2468880"/>
            <a:ext cx="0" cy="2500000"/>
          </a:xfrm>
          <a:prstGeom prst="line">
            <a:avLst/>
          </a:prstGeom>
          <a:ln w="9525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58368" y="2804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300" b="1">
                <a:solidFill>
                  <a:srgbClr val="5C564E"/>
                </a:solidFill>
                <a:latin typeface="宋体"/>
                <a:ea typeface="宋体"/>
                <a:cs typeface="宋体"/>
              </a:rPr>
              <a:t>回应的问题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0784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0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总量压力仍在，结构性矛盾凸显。就业如果只是增长的附属结果，民生就会被挤到后面。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8041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300" b="1">
                <a:solidFill>
                  <a:srgbClr val="5C564E"/>
                </a:solidFill>
                <a:latin typeface="宋体"/>
                <a:ea typeface="宋体"/>
                <a:cs typeface="宋体"/>
              </a:rPr>
              <a:t>怎么优先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07848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0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财政、货币、产业、价格、就业政策协同发力。重大政策、重大项目、重大生产力布局，要同步做岗位创造和失业风险评估。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084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300" b="1">
                <a:solidFill>
                  <a:srgbClr val="5C564E"/>
                </a:solidFill>
                <a:latin typeface="宋体"/>
                <a:ea typeface="宋体"/>
                <a:cs typeface="宋体"/>
              </a:rPr>
              <a:t>战略定位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35864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0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2024年《意见》：把高质量充分就业作为经济社会发展优先目标，纳入国民经济和社会发展规划。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084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300" b="1">
                <a:solidFill>
                  <a:srgbClr val="5C564E"/>
                </a:solidFill>
                <a:latin typeface="宋体"/>
                <a:ea typeface="宋体"/>
                <a:cs typeface="宋体"/>
              </a:rPr>
              <a:t>落到何处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35864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0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构建就业友好型发展方式。不发生规模性失业风险是底线；质的有效提升和量的合理增长要一起要。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144768"/>
            <a:ext cx="1086307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宋体"/>
                <a:ea typeface="宋体"/>
                <a:cs typeface="宋体"/>
              </a:rPr>
              <a:t>没有这一步，后面的扩岗、服务、帮扶都会变成一串互不相关的措施。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40888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59398" y="310896"/>
            <a:ext cx="2622499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0991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420624"/>
            <a:ext cx="10875264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200" b="1">
                <a:solidFill>
                  <a:srgbClr val="8B1E24"/>
                </a:solidFill>
                <a:latin typeface="微软雅黑"/>
                <a:ea typeface="微软雅黑"/>
                <a:cs typeface="微软雅黑"/>
              </a:rPr>
              <a:t>叁    战略如何解决问题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75264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8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先回答有没有岗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108752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扩大就业容量，直接回应总量压力；信息条数不能减成就业人数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536192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5989320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95660" y="6446520"/>
            <a:ext cx="900000" cy="2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1907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产业带就业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1719072"/>
            <a:ext cx="8400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改造提升传统产业，培育新兴产业，发展生产性和生活性服务业，提高发展的就业带动力。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2267712"/>
            <a:ext cx="10863072" cy="0"/>
          </a:xfrm>
          <a:prstGeom prst="line">
            <a:avLst/>
          </a:prstGeom>
          <a:ln w="7620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" y="235915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主体稳岗扩岗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359152"/>
            <a:ext cx="8400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国有企业发挥引领作用，综合运用财政、税收、金融、社保政策，引导各类经营主体履行稳岗扩岗责任。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2907792"/>
            <a:ext cx="10863072" cy="0"/>
          </a:xfrm>
          <a:prstGeom prst="line">
            <a:avLst/>
          </a:prstGeom>
          <a:ln w="7620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299923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新动能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2999232"/>
            <a:ext cx="8400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拓展数字经济就业空间，增加绿色就业，开辟康养就业。容量不只在原有岗位上打转。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8368" y="3547872"/>
            <a:ext cx="10863072" cy="0"/>
          </a:xfrm>
          <a:prstGeom prst="line">
            <a:avLst/>
          </a:prstGeom>
          <a:ln w="7620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8368" y="363931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青年扩容提质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3639312"/>
            <a:ext cx="8400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教育部部署2026届高校毕业生就业扩容提质行动：稳岗拓岗、创业带动、产教融合、重点群体帮困兜底。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4187952"/>
            <a:ext cx="10863072" cy="0"/>
          </a:xfrm>
          <a:prstGeom prst="line">
            <a:avLst/>
          </a:prstGeom>
          <a:ln w="7620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4450000"/>
            <a:ext cx="10875264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「金秋启航」校园招聘月汇集并提供就业岗位信息超1200万条。这是岗位信息，不是录用人数，更不是国考名额。</a:t>
            </a:r>
          </a:p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它对应前面那道题：人在千万级。政策铺的是市场上的岗，不是考场里的位。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144768"/>
            <a:ext cx="1086307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宋体"/>
                <a:ea typeface="宋体"/>
                <a:cs typeface="宋体"/>
              </a:rPr>
              <a:t>扩容先于入口。就业优先先回答有没有机会，而不是把人继续挤进同一扇门。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40888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59398" y="310896"/>
            <a:ext cx="2622499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0991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420624"/>
            <a:ext cx="10875264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200" b="1">
                <a:solidFill>
                  <a:srgbClr val="8B1E24"/>
                </a:solidFill>
                <a:latin typeface="微软雅黑"/>
                <a:ea typeface="微软雅黑"/>
                <a:cs typeface="微软雅黑"/>
              </a:rPr>
              <a:t>叁    战略如何解决问题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75264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8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有岗，还要对得上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108752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高质量充分就业的关键，是人岗匹配，而不只是岗位数量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536192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5989320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95660" y="6446520"/>
            <a:ext cx="900000" cy="2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190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完善公共就业服务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76272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打造「家门口」就业服务站和「15分钟」就业服务圈，把服务延伸到基层。</a:t>
            </a:r>
          </a:p>
          <a:p>
            <a:pPr algn="l" eaLnBrk="1" hangingPunct="1">
              <a:lnSpc>
                <a:spcPct val="114999"/>
              </a:lnSpc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建立全国统一的就业信息资源库，推动部门数据共享，把岗位和政策主动推送给劳动者。</a:t>
            </a:r>
          </a:p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回应的问题：不是没有信息，而是信息、指导和岗位没有接到人。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9904" y="1810512"/>
            <a:ext cx="0" cy="2500000"/>
          </a:xfrm>
          <a:prstGeom prst="line">
            <a:avLst/>
          </a:prstGeom>
          <a:ln w="9525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46520" y="17190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提高供给与需求的匹配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76272"/>
            <a:ext cx="5029200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根据产业需求优化学科专业，对就业质量不高的专业实行红黄牌提示。</a:t>
            </a:r>
          </a:p>
          <a:p>
            <a:pPr algn="l" eaLnBrk="1" hangingPunct="1">
              <a:lnSpc>
                <a:spcPct val="114999"/>
              </a:lnSpc>
              <a:spcAft>
                <a:spcPts val="800"/>
              </a:spcAft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指导高校增设「微专业」和职业能力培训课程，用来补专业和岗位之间的空隙。</a:t>
            </a:r>
          </a:p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回应的问题：岗在，人找不到；人在，岗不认。这是结构，不是态度。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389120"/>
            <a:ext cx="10875264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金秋启航超过1200万条岗位信息，也可以读成匹配机制：先把岗送到毕业生眼前。信息到了，不等于人岗已经对齐，但没有信息，对齐无从开始。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144768"/>
            <a:ext cx="1086307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宋体"/>
                <a:ea typeface="宋体"/>
                <a:cs typeface="宋体"/>
              </a:rPr>
              <a:t>技能培训对着结构性矛盾，不是对着考场。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40888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59398" y="310896"/>
            <a:ext cx="2622499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0991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420624"/>
            <a:ext cx="10875264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200" b="1">
                <a:solidFill>
                  <a:srgbClr val="8B1E24"/>
                </a:solidFill>
                <a:latin typeface="微软雅黑"/>
                <a:ea typeface="微软雅黑"/>
                <a:cs typeface="微软雅黑"/>
              </a:rPr>
              <a:t>叁    战略如何解决问题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75264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8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重点群体就业，不是同一套办法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108752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教材把高校毕业生、农民工和困难群体写进就业优先，是因为民生压力并不均匀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536192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5989320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95660" y="6446520"/>
            <a:ext cx="900000" cy="2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8368" y="1755648"/>
            <a:ext cx="3503168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8368" y="1874519"/>
            <a:ext cx="3503168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8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高校毕业生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377440"/>
            <a:ext cx="3503168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拓展市场化就业渠道，鼓励投身重点领域、城乡基层和中小微企业。强化职业指导、技能培训、见习实习。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657600"/>
            <a:ext cx="3503168" cy="21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2000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离校未就业提供「1131」实名服务：1次政策宣介、1次职业指导、3次岗位推荐、1次培训或见习。这是托底，不是扩编。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344416" y="1755648"/>
            <a:ext cx="3503168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44416" y="1874519"/>
            <a:ext cx="3503168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8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农民工等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4416" y="2377440"/>
            <a:ext cx="3503168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稳定重点群体就业，壮大县域富民产业，完善就业服务、职业培训、权益维护一体化外出务工服务。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4416" y="3657600"/>
            <a:ext cx="3503168" cy="21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2000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回应的是城乡就业不平衡，以及因失业导致的返贫风险，而不是把他们写成与青年对立的另一群人。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030464" y="1755648"/>
            <a:ext cx="3503168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030464" y="1874519"/>
            <a:ext cx="3503168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8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困难群体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0464" y="2377440"/>
            <a:ext cx="3503168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2000"/>
              </a:lnSpc>
            </a:pPr>
            <a:r>
              <a:rPr sz="14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完善就业援助：及时发现、优先服务、精准帮扶。统筹公益性岗位，确保零就业家庭动态清零。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0464" y="3657600"/>
            <a:ext cx="3503168" cy="21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2000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低保、零就业、残疾等毕业生还要「一人一档」、结对帮扶。兜底是就业优先的底线，不是点缀。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144768"/>
            <a:ext cx="1086307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宋体"/>
                <a:ea typeface="宋体"/>
                <a:cs typeface="宋体"/>
              </a:rPr>
              <a:t>青年就业是重中之重，但不等于只讨论考公的那一部分青年。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40888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59398" y="310896"/>
            <a:ext cx="2622499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0991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420624"/>
            <a:ext cx="10875264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200" b="1">
                <a:solidFill>
                  <a:srgbClr val="8B1E24"/>
                </a:solidFill>
                <a:latin typeface="微软雅黑"/>
                <a:ea typeface="微软雅黑"/>
                <a:cs typeface="微软雅黑"/>
              </a:rPr>
              <a:t>叁    战略如何解决问题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75264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8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就业优先不只是找到一份工作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108752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高质量充分就业：工作稳定、收入合理、保障可靠、职业安全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536192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5989320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95660" y="6446520"/>
            <a:ext cx="900000" cy="2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pic>
        <p:nvPicPr>
          <p:cNvPr id="12" name="Picture 11" descr="tr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9072"/>
            <a:ext cx="4937760" cy="278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45600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职业技能实训车间  ·  中德实训楼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190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职业技能培训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975104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3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健全终身职业技能培训制度，大规模开展培训。它对着结构性矛盾，用来提高劳动者适应岗位变化的能力。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6990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新就业形态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955104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3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支持和规范发展新就业形态，扩大职业伤害保障，保障劳动者对平台劳动规则的知情权、参与权。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6790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流动与平等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935104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3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破除妨碍劳动力、人才流动的体制机制障碍，消除地域、身份、性别、年龄等不合理限制和就业歧视。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590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劳动法治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915104"/>
            <a:ext cx="50292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3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完善劳动法律法规，健全劳动关系协商协调机制，治理欠薪欠保、违法裁员、求职陷阱。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144768"/>
            <a:ext cx="1086307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宋体"/>
                <a:ea typeface="宋体"/>
                <a:cs typeface="宋体"/>
              </a:rPr>
              <a:t>没有权益保障，「有工作」还走不到「好就业」。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40888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5939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09913" y="310896"/>
            <a:ext cx="2622499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420624"/>
            <a:ext cx="10875264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200" b="1">
                <a:solidFill>
                  <a:srgbClr val="8B1E24"/>
                </a:solidFill>
                <a:latin typeface="微软雅黑"/>
                <a:ea typeface="微软雅黑"/>
                <a:cs typeface="微软雅黑"/>
              </a:rPr>
              <a:t>肆    回到民生与青年发展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75264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8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从「有工作」到「好就业」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108752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就业质量不能被收成一块牌子、一个编制、一句稳定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536192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5989320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95660" y="6446520"/>
            <a:ext cx="900000" cy="2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1907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8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171907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机会充分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719072"/>
            <a:ext cx="7200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先有岗，容量跟得上劳动年龄人口和毕业生规模。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44907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8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44907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环境公平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449072"/>
            <a:ext cx="7200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流动障碍和就业歧视少一分，选择才多一分。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17907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8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17907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结构优化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179072"/>
            <a:ext cx="7200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产业、区域、技能结构一起调整，而不是所有人挤向同一入口。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90907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8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90907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匹配高效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909072"/>
            <a:ext cx="7200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专业、技能、岗位、地点能够对上，公共就业服务接得住。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639072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8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39072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关系和谐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639072"/>
            <a:ext cx="72000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报酬、休息、安全、社保靠得住，劳动关系可协商。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144768"/>
            <a:ext cx="1086307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宋体"/>
                <a:ea typeface="宋体"/>
                <a:cs typeface="宋体"/>
              </a:rPr>
              <a:t>这五句来自2024年《意见》。编制可以是其中一种好就业，但不能独占定义权。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40888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5939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09913" y="310896"/>
            <a:ext cx="2622499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420624"/>
            <a:ext cx="10875264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200" b="1">
                <a:solidFill>
                  <a:srgbClr val="8B1E24"/>
                </a:solidFill>
                <a:latin typeface="微软雅黑"/>
                <a:ea typeface="微软雅黑"/>
                <a:cs typeface="微软雅黑"/>
              </a:rPr>
              <a:t>肆    回到民生与青年发展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75264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8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政策铺宽机会，并不代替劳动者的选择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108752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把青年案例放回政策框架里看，而不是停在个人感悟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536192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5989320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95660" y="6446520"/>
            <a:ext cx="900000" cy="2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pic>
        <p:nvPicPr>
          <p:cNvPr id="12" name="Picture 11" descr="lib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755648"/>
            <a:ext cx="3794760" cy="38587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175564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战略能够改变的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176272"/>
            <a:ext cx="676656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扩大就业容量，完善公共服务，改善人岗匹配，托住重点群体，保障劳动者权益。这些都会改写青年面对的机会集合。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520440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6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战略不能也不应代替的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931920"/>
            <a:ext cx="676656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考公本身正当。把它写成人生里唯一被承认的入口，判断就开始窄了。补贴铺得了路，规定不了什么叫好工作。剩下的定义权，仍在劳动者手里。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5687568"/>
            <a:ext cx="37947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高校图书馆自习  ·  Gary Todd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144768"/>
            <a:ext cx="1086307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宋体"/>
                <a:ea typeface="宋体"/>
                <a:cs typeface="宋体"/>
              </a:rPr>
              <a:t>路可以铺宽。这句话要从前文的理论和政策里推出来，而不是先写成金句。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40888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5939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09913" y="310896"/>
            <a:ext cx="2622499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420624"/>
            <a:ext cx="10875264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200" b="1">
                <a:solidFill>
                  <a:srgbClr val="8B1E24"/>
                </a:solidFill>
                <a:latin typeface="微软雅黑"/>
                <a:ea typeface="微软雅黑"/>
                <a:cs typeface="微软雅黑"/>
              </a:rPr>
              <a:t>肆    回到民生与青年发展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75264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8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就业优先战略怎样同时回应两道题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108752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讨论回到战略，而不是停留在该不该考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536192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5989320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95660" y="6446520"/>
            <a:ext cx="900000" cy="2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190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8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总量压力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76272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毕业生规模仍在高位。要把就业写进产业发展、项目布局和稳岗扩岗，先把机会铺出来。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9904" y="1810512"/>
            <a:ext cx="0" cy="1783079"/>
          </a:xfrm>
          <a:prstGeom prst="line">
            <a:avLst/>
          </a:prstGeom>
          <a:ln w="9525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46520" y="171907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8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结构性矛盾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76272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技能、专业、地点、预期和岗位没有对齐。培训、公共服务、教育供给和权益保障，对着的是这一层。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3840480"/>
            <a:ext cx="10863072" cy="0"/>
          </a:xfrm>
          <a:prstGeom prst="line">
            <a:avLst/>
          </a:prstGeom>
          <a:ln w="9525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4023360"/>
            <a:ext cx="108752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课堂讨论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389120"/>
            <a:ext cx="10875264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  <a:spcAft>
                <a:spcPts val="1000"/>
              </a:spcAft>
            </a:pPr>
            <a:r>
              <a:rPr sz="18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如果机会更充分、匹配更有效、权益更有保障，青年的职业选择会不会仍然挤在同一条路上？</a:t>
            </a:r>
          </a:p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考公热位于交叉处：总量压力、匹配不足，加上「好工作」定义过窄。讨论它，是为了看清战略要铺宽的是哪几条路。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144768"/>
            <a:ext cx="1086307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宋体"/>
                <a:ea typeface="宋体"/>
                <a:cs typeface="宋体"/>
              </a:rPr>
              <a:t>问题用来看清边界，不是为了再找一句拔高的话。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40888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5939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09913" y="310896"/>
            <a:ext cx="2622499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420624"/>
            <a:ext cx="10875264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200" b="1">
                <a:solidFill>
                  <a:srgbClr val="8B1E24"/>
                </a:solidFill>
                <a:latin typeface="微软雅黑"/>
                <a:ea typeface="微软雅黑"/>
                <a:cs typeface="微软雅黑"/>
              </a:rPr>
              <a:t>肆    回到民生与青年发展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75264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8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机会更充分，选择更多元，权益更有保障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108752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回到这一小节：实施就业优先战略，以保障和改善民生为重点加强社会建设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536192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5989320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95660" y="6446520"/>
            <a:ext cx="900000" cy="2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pic>
        <p:nvPicPr>
          <p:cNvPr id="12" name="Picture 11" descr="wo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755648"/>
            <a:ext cx="3794760" cy="38587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175564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0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755648"/>
            <a:ext cx="5800000" cy="9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0000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就业是最基本的民生。把就业摆在优先位置，不是口号，是把劳动者的生存发展写进经济社会发展。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85564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0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855648"/>
            <a:ext cx="5800000" cy="9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0000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总量要靠扩容和稳岗，结构要靠匹配、培训和服务。考公热说明路还窄，但不能把战略改写成一场考试评论。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5564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0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955648"/>
            <a:ext cx="5800000" cy="98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20000"/>
              </a:lnSpc>
            </a:pPr>
            <a:r>
              <a:rPr sz="15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高质量充分就业，落在工作稳定、收入合理、保障可靠、职业安全。民生改善最终要让人走得进岗，也站得住岗。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26679" y="5687568"/>
            <a:ext cx="379476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深圳工厂生产线  ·  RG72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144768"/>
            <a:ext cx="1086307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宋体"/>
                <a:ea typeface="宋体"/>
                <a:cs typeface="宋体"/>
              </a:rPr>
              <a:t>谢谢。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3408883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6159398" y="310896"/>
            <a:ext cx="2622499" cy="0"/>
          </a:xfrm>
          <a:prstGeom prst="line">
            <a:avLst/>
          </a:prstGeom>
          <a:ln w="14604">
            <a:solidFill>
              <a:srgbClr val="D9CD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909913" y="310896"/>
            <a:ext cx="2622499" cy="0"/>
          </a:xfrm>
          <a:prstGeom prst="line">
            <a:avLst/>
          </a:prstGeom>
          <a:ln w="14604">
            <a:solidFill>
              <a:srgbClr val="8B1E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58368" y="420624"/>
            <a:ext cx="10875264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200" b="1">
                <a:solidFill>
                  <a:srgbClr val="8B1E24"/>
                </a:solidFill>
                <a:latin typeface="微软雅黑"/>
                <a:ea typeface="微软雅黑"/>
                <a:cs typeface="微软雅黑"/>
              </a:rPr>
              <a:t>肆    回到民生与青年发展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10875264" cy="42062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2800" b="1">
                <a:solidFill>
                  <a:srgbClr val="1E1E1E"/>
                </a:solidFill>
                <a:latin typeface="宋体"/>
                <a:ea typeface="宋体"/>
                <a:cs typeface="宋体"/>
              </a:rPr>
              <a:t>教材、文件与数据来源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170432"/>
            <a:ext cx="10875264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400" b="0">
                <a:solidFill>
                  <a:srgbClr val="5C564E"/>
                </a:solidFill>
                <a:latin typeface="微软雅黑"/>
                <a:ea typeface="微软雅黑"/>
                <a:cs typeface="微软雅黑"/>
              </a:rPr>
              <a:t>检索截至2026年10月14日。未公布的不估算。课堂叙述案例不是统计。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58368" y="1536192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8368" y="5989320"/>
            <a:ext cx="10863072" cy="0"/>
          </a:xfrm>
          <a:prstGeom prst="line">
            <a:avLst/>
          </a:prstGeom>
          <a:ln w="11430">
            <a:solidFill>
              <a:srgbClr val="C4B8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695660" y="6446520"/>
            <a:ext cx="900000" cy="22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 eaLnBrk="1" hangingPunct="1">
              <a:lnSpc>
                <a:spcPct val="114999"/>
              </a:lnSpc>
            </a:pPr>
            <a:r>
              <a:rPr sz="1100" b="0">
                <a:solidFill>
                  <a:srgbClr val="8A8276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1719072"/>
            <a:ext cx="5394960" cy="40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教材</a:t>
            </a:r>
          </a:p>
          <a:p>
            <a:pPr algn="l" eaLnBrk="1" hangingPunct="1">
              <a:lnSpc>
                <a:spcPct val="112000"/>
              </a:lnSpc>
              <a:spcAft>
                <a:spcPts val="1200"/>
              </a:spcAft>
            </a:pPr>
            <a:r>
              <a:rPr sz="13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《习近平新时代中国特色社会主义思想概论》第十一章，以保障和改善民生为重点加强社会建设。第二节：不断提高人民生活品质。二、实施就业优先战略。页码约第230—234页，核心论述见第232页附近。</a:t>
            </a:r>
          </a:p>
          <a:p>
            <a:pPr algn="l" eaLnBrk="1" hangingPunct="1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政策文件</a:t>
            </a:r>
          </a:p>
          <a:p>
            <a:pPr algn="l" eaLnBrk="1" hangingPunct="1"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《中共中央 国务院关于实施就业优先战略促进高质量充分就业的意见》（2024年9月15日），新华社9月25日受权发布。</a:t>
            </a:r>
          </a:p>
          <a:p>
            <a:pPr algn="l" eaLnBrk="1" hangingPunct="1"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人力资源社会保障部、财政部《关于做好2026年高校毕业生等青年就业工作的通知》。离校未就业「1131」实名服务。</a:t>
            </a:r>
          </a:p>
          <a:p>
            <a:pPr algn="l" eaLnBrk="1" hangingPunct="1">
              <a:lnSpc>
                <a:spcPct val="112000"/>
              </a:lnSpc>
            </a:pPr>
            <a:r>
              <a:rPr sz="13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教育部：2026届高校毕业生就业扩容提质行动；「金秋启航」校园招聘月。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719072"/>
            <a:ext cx="5212080" cy="400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数据</a:t>
            </a:r>
          </a:p>
          <a:p>
            <a:pPr algn="l" eaLnBrk="1" hangingPunct="1"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2026届毕业生预计1270万、较2025届1222万增加48万；岗位信息超1200万条。教育部，新华社2025年11月20日。</a:t>
            </a:r>
          </a:p>
          <a:p>
            <a:pPr algn="l" eaLnBrk="1" hangingPunct="1">
              <a:lnSpc>
                <a:spcPct val="112000"/>
              </a:lnSpc>
              <a:spcAft>
                <a:spcPts val="800"/>
              </a:spcAft>
            </a:pPr>
            <a:r>
              <a:rPr sz="13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2026年国考：计划招录38119人，过审371.8万，约98∶1。国家公务员局；新京报2025年10月26日；中新网2025年11月30日。</a:t>
            </a:r>
          </a:p>
          <a:p>
            <a:pPr algn="l" eaLnBrk="1" hangingPunct="1">
              <a:lnSpc>
                <a:spcPct val="112000"/>
              </a:lnSpc>
              <a:spcAft>
                <a:spcPts val="1200"/>
              </a:spcAft>
            </a:pPr>
            <a:r>
              <a:rPr sz="13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2026年8月分年龄组失业率：16—24岁不含在校生18.9%，25—29岁7.5%，30—59岁3.9%；全国城镇5.3%。国家统计局2026年9月17日。</a:t>
            </a:r>
          </a:p>
          <a:p>
            <a:pPr algn="l" eaLnBrk="1" hangingPunct="1"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8B1E24"/>
                </a:solidFill>
                <a:latin typeface="宋体"/>
                <a:ea typeface="宋体"/>
                <a:cs typeface="宋体"/>
              </a:rPr>
              <a:t>图片（均来自维基共享资源，可核对授权）</a:t>
            </a:r>
          </a:p>
          <a:p>
            <a:pPr algn="l" eaLnBrk="1" hangingPunct="1">
              <a:lnSpc>
                <a:spcPct val="112000"/>
              </a:lnSpc>
            </a:pPr>
            <a:r>
              <a:rPr sz="1300" b="0">
                <a:solidFill>
                  <a:srgbClr val="1E1E1E"/>
                </a:solidFill>
                <a:latin typeface="微软雅黑"/>
                <a:ea typeface="微软雅黑"/>
                <a:cs typeface="微软雅黑"/>
              </a:rPr>
              <a:t>北科校园银杏：纳瓦拉的狼，CC BY-SA 4.0。西北旺面试排队：N509FZ，CC BY-SA 4.0。图书馆自习：Gary Todd，CC0。中德实训车间：CC BY-SA 4.0。深圳工厂：RG72，CC BY-SA 4.0。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144768"/>
            <a:ext cx="1086307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 eaLnBrk="1" hangingPunct="1">
              <a:lnSpc>
                <a:spcPct val="114999"/>
              </a:lnSpc>
            </a:pPr>
            <a:r>
              <a:rPr sz="1500" b="0">
                <a:solidFill>
                  <a:srgbClr val="1E1E1E"/>
                </a:solidFill>
                <a:latin typeface="宋体"/>
                <a:ea typeface="宋体"/>
                <a:cs typeface="宋体"/>
              </a:rPr>
              <a:t>字体仅用宋体、微软雅黑，便于教室电脑直接打开。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